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790027-05BA-E0C9-A8BC-5F5781C06B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1FEBF6-23D3-F9FA-8748-F36CB7921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50CFC4-C23E-E8BE-7CAE-6C75017EB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2561F-15A4-4DAD-9A04-5CDC7F973DBC}" type="datetimeFigureOut">
              <a:rPr lang="es-CO" smtClean="0"/>
              <a:t>4/10/2026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6DAE94-93E0-0809-4B28-D16133250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A44E11-E14F-3BDA-69DA-D9D7289FB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74586-1DC8-492B-A52C-83C345D49E3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6055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CEB01A-0C80-A03E-FDC2-862281F3E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37E61F-60C6-FB01-F75F-9AF88559E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C90690-2B03-B5A9-DA7C-F5E2555AA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2561F-15A4-4DAD-9A04-5CDC7F973DBC}" type="datetimeFigureOut">
              <a:rPr lang="es-CO" smtClean="0"/>
              <a:t>4/10/2026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67270A-F7D2-F4EF-E1EA-BA9AFAD5B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114934-5891-284C-3D1E-E61AB74F8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74586-1DC8-492B-A52C-83C345D49E3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0553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A40E69-6271-E974-7895-F1B0912BB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8BDEA51-7B4C-802B-FDF9-C777805F4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CBA674-C414-F383-5871-3B6C2962A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2561F-15A4-4DAD-9A04-5CDC7F973DBC}" type="datetimeFigureOut">
              <a:rPr lang="es-CO" smtClean="0"/>
              <a:t>4/10/2026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FA333D-42C7-3D22-F44A-6BBA76EA0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45F57F-FEFA-557A-F510-6F9ADD360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74586-1DC8-492B-A52C-83C345D49E3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98188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395C2-6F35-B1B9-A640-618E739FA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C7AB98-41B6-2275-1188-FD53702199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705B6A-2928-F28C-B284-C0A247B8D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889EE3E-46EA-4F6B-3516-CFE9BD535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2561F-15A4-4DAD-9A04-5CDC7F973DBC}" type="datetimeFigureOut">
              <a:rPr lang="es-CO" smtClean="0"/>
              <a:t>4/10/2026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CAA8D37-5745-BB2B-F1FA-730F3A852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CDE16E1-B3D3-E0DA-D397-6F267D15F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74586-1DC8-492B-A52C-83C345D49E3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57499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18F0BB-C846-3FEF-BB18-BCB2229DD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D6A1A9B-97A4-D889-B63C-6CC7871C8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4A117A0-4060-2EA0-55DA-01B1AF11A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39CB6B8-472E-E3C2-E6F8-6C69017819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5BD60D3-233A-0F78-2550-9999C7E70D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91BE41D-2305-48D4-F380-C82EB09B5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2561F-15A4-4DAD-9A04-5CDC7F973DBC}" type="datetimeFigureOut">
              <a:rPr lang="es-CO" smtClean="0"/>
              <a:t>4/10/2026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BDFABE6-1845-C713-D368-C621A4712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EC5DA35-5FF9-58D0-D5AB-58D47EBCA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74586-1DC8-492B-A52C-83C345D49E3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0630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294296-9044-285C-1C34-420E8182D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0B9041C-F763-E575-4499-3E5D07FF7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2561F-15A4-4DAD-9A04-5CDC7F973DBC}" type="datetimeFigureOut">
              <a:rPr lang="es-CO" smtClean="0"/>
              <a:t>4/10/2026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B1D8CEB-621F-AA7D-96AF-348996888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01E820-9887-B7A5-741A-648CAC2AC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74586-1DC8-492B-A52C-83C345D49E3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99820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3BB72DB-B1E9-D90B-995B-94EF70E46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2561F-15A4-4DAD-9A04-5CDC7F973DBC}" type="datetimeFigureOut">
              <a:rPr lang="es-CO" smtClean="0"/>
              <a:t>4/10/2026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64A1A2A-45D5-A7D6-B4FC-46B5CC418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6036E1F-9EFA-E68F-0306-13AD4104C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74586-1DC8-492B-A52C-83C345D49E3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5828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0CA5B6-20B9-D2E3-9F8F-13B4376C8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18E863-DD27-0D42-935B-2C24A1F9A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BE7A0FC-17A1-35C9-9421-35E16DF0E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358CF31-226A-2360-0FAF-1159A0EC1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2561F-15A4-4DAD-9A04-5CDC7F973DBC}" type="datetimeFigureOut">
              <a:rPr lang="es-CO" smtClean="0"/>
              <a:t>4/10/2026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A69FFEF-1724-93AC-573E-0848CA60B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4079AA7-6447-4AEC-93F7-8C807489D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74586-1DC8-492B-A52C-83C345D49E3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41682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985B57-AE61-7A77-AB17-C9147DAF6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DD60DC8-0C46-0264-02F6-5D06AA11359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2F70801-5CDA-61DA-263B-4997802CDF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69F2872-BFB2-FC29-CE34-794C5CE54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2561F-15A4-4DAD-9A04-5CDC7F973DBC}" type="datetimeFigureOut">
              <a:rPr lang="es-CO" smtClean="0"/>
              <a:t>4/10/2026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422E1C3-FB22-295E-31F4-C9F3A2496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50B70B-F383-A36C-EF10-7D0D94CE6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74586-1DC8-492B-A52C-83C345D49E3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98467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9FAE40-5EDA-1AEC-D5D0-698E54CF5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66135A-3558-4CFA-BB86-C0512F1934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6FA2FD-9865-6EC2-FEAC-77A457396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2561F-15A4-4DAD-9A04-5CDC7F973DBC}" type="datetimeFigureOut">
              <a:rPr lang="es-CO" smtClean="0"/>
              <a:t>4/10/2026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C9F6EE-5439-0F2A-6B19-919B159F4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FADCA0-AD9F-C916-2197-6C6161AEE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74586-1DC8-492B-A52C-83C345D49E3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77477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0BF3838-99D2-4E06-DCA0-14739D9CE2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D844AD8-8455-1A5B-39FF-4FCC882E4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C3A1AE-8ADA-828C-F661-644E4196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2561F-15A4-4DAD-9A04-5CDC7F973DBC}" type="datetimeFigureOut">
              <a:rPr lang="es-CO" smtClean="0"/>
              <a:t>4/10/2026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6E536C-7D7F-A40A-70AB-07AB26A2F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E308F3-4B9B-4191-5E5E-192341FEB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74586-1DC8-492B-A52C-83C345D49E3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5306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5CE74A6-42E0-A193-52AE-30E635BE5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79742AE-614A-BFF5-A3D0-6724B9E67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8518DC-DC95-E939-7B1F-D5AFE41562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52561F-15A4-4DAD-9A04-5CDC7F973DBC}" type="datetimeFigureOut">
              <a:rPr lang="es-CO" smtClean="0"/>
              <a:t>4/10/2026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1484CF-4496-31AA-A6AC-EC1E37273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99F39D-E611-E341-185D-73CF1C6B32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674586-1DC8-492B-A52C-83C345D49E3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5679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6FE2411-7BE0-5CAE-B254-B1B8EFEE11D0}"/>
              </a:ext>
            </a:extLst>
          </p:cNvPr>
          <p:cNvSpPr txBox="1"/>
          <p:nvPr/>
        </p:nvSpPr>
        <p:spPr>
          <a:xfrm>
            <a:off x="667774" y="608781"/>
            <a:ext cx="7521678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Paso a paso para crear el proyecto</a:t>
            </a:r>
          </a:p>
          <a:p>
            <a:endParaRPr lang="es-ES" sz="2400" dirty="0"/>
          </a:p>
          <a:p>
            <a:pPr marL="457200" indent="-457200">
              <a:buAutoNum type="arabicPeriod"/>
            </a:pPr>
            <a:r>
              <a:rPr lang="es-ES" sz="2000" dirty="0"/>
              <a:t>Cree en el proyecto una carpeta que puede nombrar como app.</a:t>
            </a:r>
          </a:p>
          <a:p>
            <a:pPr marL="457200" indent="-457200">
              <a:buAutoNum type="arabicPeriod"/>
            </a:pPr>
            <a:r>
              <a:rPr lang="es-ES" sz="2000" dirty="0"/>
              <a:t>Cree dentro de la carpeta app cuatro carpetas con los nombres de </a:t>
            </a:r>
            <a:r>
              <a:rPr lang="es-ES" sz="2000" dirty="0" err="1"/>
              <a:t>domain</a:t>
            </a:r>
            <a:r>
              <a:rPr lang="es-ES" sz="2000" dirty="0"/>
              <a:t> , </a:t>
            </a:r>
            <a:r>
              <a:rPr lang="es-ES" sz="2000" dirty="0" err="1"/>
              <a:t>service</a:t>
            </a:r>
            <a:r>
              <a:rPr lang="es-ES" sz="2000" dirty="0"/>
              <a:t> , </a:t>
            </a:r>
            <a:r>
              <a:rPr lang="es-ES" sz="2000" dirty="0" err="1"/>
              <a:t>repository</a:t>
            </a:r>
            <a:r>
              <a:rPr lang="es-ES" sz="2000" dirty="0"/>
              <a:t> y </a:t>
            </a:r>
            <a:r>
              <a:rPr lang="es-ES" sz="2000" dirty="0" err="1"/>
              <a:t>view</a:t>
            </a:r>
            <a:r>
              <a:rPr lang="es-ES" sz="2000" dirty="0"/>
              <a:t>.</a:t>
            </a:r>
          </a:p>
          <a:p>
            <a:pPr marL="457200" indent="-457200">
              <a:buAutoNum type="arabicPeriod"/>
            </a:pPr>
            <a:r>
              <a:rPr lang="es-ES" sz="2000" dirty="0"/>
              <a:t>Cree la clase pojo siguiendo el diagrama de clases y agréguela en la Carpeta dominio</a:t>
            </a:r>
          </a:p>
          <a:p>
            <a:pPr marL="457200" indent="-457200">
              <a:buAutoNum type="arabicPeriod"/>
            </a:pPr>
            <a:r>
              <a:rPr lang="es-ES" sz="2000" dirty="0"/>
              <a:t>La clases pojo contendrán los atributos encapsulados con el modificador private , constructor </a:t>
            </a:r>
            <a:r>
              <a:rPr lang="es-ES" sz="2000" dirty="0" err="1"/>
              <a:t>vacio</a:t>
            </a:r>
            <a:r>
              <a:rPr lang="es-ES" sz="2000" dirty="0"/>
              <a:t> , constructor con argumentos, getters y setters.</a:t>
            </a:r>
          </a:p>
          <a:p>
            <a:pPr marL="457200" indent="-457200">
              <a:buAutoNum type="arabicPeriod"/>
            </a:pPr>
            <a:r>
              <a:rPr lang="es-ES" sz="2000" dirty="0"/>
              <a:t>Cree las clases utilitarias para casa pojo: si la clase pojo es </a:t>
            </a:r>
            <a:r>
              <a:rPr lang="es-ES" sz="2000" dirty="0" err="1"/>
              <a:t>Property</a:t>
            </a:r>
            <a:r>
              <a:rPr lang="es-ES" sz="2000" dirty="0"/>
              <a:t> , tendrá una clase utilitaria llamada </a:t>
            </a:r>
            <a:r>
              <a:rPr lang="es-ES" sz="2000" dirty="0" err="1"/>
              <a:t>PropertyView</a:t>
            </a:r>
            <a:r>
              <a:rPr lang="es-ES" sz="2000" dirty="0"/>
              <a:t> en la carpeta </a:t>
            </a:r>
            <a:r>
              <a:rPr lang="es-ES" sz="2000" dirty="0" err="1"/>
              <a:t>view</a:t>
            </a:r>
            <a:r>
              <a:rPr lang="es-ES" sz="2000" dirty="0"/>
              <a:t> ,</a:t>
            </a:r>
            <a:r>
              <a:rPr lang="es-ES" sz="2000" dirty="0" err="1"/>
              <a:t>PropertyServiceImp</a:t>
            </a:r>
            <a:r>
              <a:rPr lang="es-ES" sz="2000" dirty="0"/>
              <a:t> en la carpeta </a:t>
            </a:r>
            <a:r>
              <a:rPr lang="es-ES" sz="2000" dirty="0" err="1"/>
              <a:t>service</a:t>
            </a:r>
            <a:r>
              <a:rPr lang="es-ES" sz="2000" dirty="0"/>
              <a:t> , </a:t>
            </a:r>
            <a:r>
              <a:rPr lang="es-ES" sz="2000" dirty="0" err="1"/>
              <a:t>PropertyRepositoryImp</a:t>
            </a:r>
            <a:r>
              <a:rPr lang="es-ES" sz="2000" dirty="0"/>
              <a:t> en la carpeta </a:t>
            </a:r>
            <a:r>
              <a:rPr lang="es-ES" sz="2000" dirty="0" err="1"/>
              <a:t>repository</a:t>
            </a:r>
            <a:r>
              <a:rPr lang="es-ES" sz="2000" dirty="0"/>
              <a:t>.</a:t>
            </a:r>
          </a:p>
          <a:p>
            <a:endParaRPr lang="es-ES" sz="2400" dirty="0"/>
          </a:p>
          <a:p>
            <a:endParaRPr lang="es-ES" dirty="0"/>
          </a:p>
          <a:p>
            <a:endParaRPr lang="es-ES" dirty="0"/>
          </a:p>
          <a:p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BD3F2C8-8E04-77D9-061F-DDE72F797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7026" y="891316"/>
            <a:ext cx="3124200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079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2990E-E997-8B72-32CA-3A702DDA8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65D33D3-3020-8EE2-E9D0-EBA10D0A7254}"/>
              </a:ext>
            </a:extLst>
          </p:cNvPr>
          <p:cNvSpPr txBox="1"/>
          <p:nvPr/>
        </p:nvSpPr>
        <p:spPr>
          <a:xfrm>
            <a:off x="934474" y="634181"/>
            <a:ext cx="1099082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Paso a paso para crear el proyecto</a:t>
            </a:r>
          </a:p>
          <a:p>
            <a:endParaRPr lang="es-ES" sz="2400" dirty="0"/>
          </a:p>
          <a:p>
            <a:r>
              <a:rPr lang="es-ES" sz="2400" dirty="0"/>
              <a:t>6. Cree una clase al nivel de la carpeta app que se llame </a:t>
            </a:r>
            <a:r>
              <a:rPr lang="es-ES" sz="2400" dirty="0" err="1"/>
              <a:t>application</a:t>
            </a:r>
            <a:r>
              <a:rPr lang="es-ES" sz="2400" dirty="0"/>
              <a:t> , esta clase contendrá el método </a:t>
            </a:r>
            <a:r>
              <a:rPr lang="es-ES" sz="2400" dirty="0" err="1"/>
              <a:t>main</a:t>
            </a:r>
            <a:r>
              <a:rPr lang="es-ES" sz="2400" dirty="0"/>
              <a:t>():</a:t>
            </a:r>
          </a:p>
          <a:p>
            <a:endParaRPr lang="es-ES" dirty="0"/>
          </a:p>
          <a:p>
            <a:endParaRPr lang="es-C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EE72FCD-B22F-0367-4AD5-BF74AEF69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8310" y="2489200"/>
            <a:ext cx="6727289" cy="297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86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FCCE1-9769-F7E3-9CF2-CECF629BF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9916741-5465-C6DD-D862-6920367AFE21}"/>
              </a:ext>
            </a:extLst>
          </p:cNvPr>
          <p:cNvSpPr txBox="1"/>
          <p:nvPr/>
        </p:nvSpPr>
        <p:spPr>
          <a:xfrm>
            <a:off x="188516" y="519212"/>
            <a:ext cx="9009626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Paso a paso para crear el proyecto</a:t>
            </a:r>
          </a:p>
          <a:p>
            <a:endParaRPr lang="es-ES" sz="2400" dirty="0"/>
          </a:p>
          <a:p>
            <a:r>
              <a:rPr lang="es-ES" sz="2400" dirty="0"/>
              <a:t>7. Cree las interfaces para los puertos, dentro del paquete </a:t>
            </a:r>
            <a:r>
              <a:rPr lang="es-ES" sz="2400" dirty="0" err="1"/>
              <a:t>service</a:t>
            </a:r>
            <a:r>
              <a:rPr lang="es-ES" sz="2400" dirty="0"/>
              <a:t>,  de la siguiente manera: primero cree un paquete llamado </a:t>
            </a:r>
            <a:r>
              <a:rPr lang="es-ES" sz="2400" dirty="0" err="1"/>
              <a:t>inputports</a:t>
            </a:r>
            <a:r>
              <a:rPr lang="es-ES" sz="2400" dirty="0"/>
              <a:t> , en esta cree la interfaz del servicio con la siguiente notación: </a:t>
            </a:r>
            <a:r>
              <a:rPr lang="es-ES" sz="2400" dirty="0" err="1"/>
              <a:t>PropertyServiceInterface</a:t>
            </a:r>
            <a:r>
              <a:rPr lang="es-ES" sz="2400" dirty="0"/>
              <a:t>. Segundo cree otra carpeta , </a:t>
            </a:r>
            <a:r>
              <a:rPr lang="es-ES" sz="2400" dirty="0" err="1"/>
              <a:t>nombrela</a:t>
            </a:r>
            <a:r>
              <a:rPr lang="es-ES" sz="2400" dirty="0"/>
              <a:t> </a:t>
            </a:r>
            <a:r>
              <a:rPr lang="es-ES" sz="2400" dirty="0" err="1"/>
              <a:t>ouputports</a:t>
            </a:r>
            <a:r>
              <a:rPr lang="es-ES" sz="2400" dirty="0"/>
              <a:t>  y dentro cree otra interfaz llamada </a:t>
            </a:r>
            <a:r>
              <a:rPr lang="es-ES" sz="2400" dirty="0" err="1"/>
              <a:t>PropertyRepositoryPort</a:t>
            </a:r>
            <a:endParaRPr lang="es-ES" sz="2400" dirty="0"/>
          </a:p>
          <a:p>
            <a:r>
              <a:rPr lang="es-ES" sz="2400" dirty="0"/>
              <a:t>8. Cree dentro de las interfaces los métodos </a:t>
            </a:r>
            <a:r>
              <a:rPr lang="es-ES" sz="2400" dirty="0" err="1"/>
              <a:t>abstratos</a:t>
            </a:r>
            <a:r>
              <a:rPr lang="es-ES" sz="2400" dirty="0"/>
              <a:t> que va a implementar en los contratos , recuerde la sintaxis public </a:t>
            </a:r>
            <a:r>
              <a:rPr lang="es-ES" sz="2400" i="1" dirty="0" err="1"/>
              <a:t>Property</a:t>
            </a:r>
            <a:r>
              <a:rPr lang="es-ES" sz="2400" i="1" dirty="0"/>
              <a:t> </a:t>
            </a:r>
            <a:r>
              <a:rPr lang="es-ES" sz="2400" i="1" dirty="0" err="1"/>
              <a:t>createProperty</a:t>
            </a:r>
            <a:r>
              <a:rPr lang="es-ES" sz="2400" i="1" dirty="0"/>
              <a:t>(//atributos</a:t>
            </a:r>
            <a:r>
              <a:rPr lang="es-ES" sz="2400" dirty="0"/>
              <a:t>);</a:t>
            </a:r>
          </a:p>
          <a:p>
            <a:r>
              <a:rPr lang="es-ES" sz="2400" dirty="0"/>
              <a:t>9. Implemente las interfaces en las clases </a:t>
            </a:r>
            <a:r>
              <a:rPr lang="es-ES" sz="2400" dirty="0" err="1"/>
              <a:t>adapters</a:t>
            </a:r>
            <a:r>
              <a:rPr lang="es-ES" sz="2400" dirty="0"/>
              <a:t> -&gt; </a:t>
            </a:r>
            <a:r>
              <a:rPr lang="es-ES" sz="2400" dirty="0" err="1"/>
              <a:t>PropertyServiceInterface</a:t>
            </a:r>
            <a:r>
              <a:rPr lang="es-ES" sz="2400" dirty="0"/>
              <a:t>  </a:t>
            </a:r>
            <a:r>
              <a:rPr lang="es-ES" sz="2400" dirty="0">
                <a:sym typeface="Wingdings" panose="05000000000000000000" pitchFamily="2" charset="2"/>
              </a:rPr>
              <a:t>&lt; ---- </a:t>
            </a:r>
            <a:r>
              <a:rPr lang="es-ES" sz="2400" dirty="0" err="1"/>
              <a:t>PropertyServiceImp</a:t>
            </a:r>
            <a:r>
              <a:rPr lang="es-ES" sz="2400" dirty="0"/>
              <a:t> y </a:t>
            </a:r>
            <a:r>
              <a:rPr lang="es-ES" sz="2400" dirty="0" err="1"/>
              <a:t>PropertyRepositoryPort</a:t>
            </a:r>
            <a:r>
              <a:rPr lang="es-ES" sz="2400" dirty="0"/>
              <a:t> &lt; ------- </a:t>
            </a:r>
            <a:r>
              <a:rPr lang="es-ES" sz="2400" dirty="0" err="1"/>
              <a:t>PropertyRepositoryImp</a:t>
            </a:r>
            <a:endParaRPr lang="es-ES" sz="2400" dirty="0"/>
          </a:p>
          <a:p>
            <a:endParaRPr lang="es-ES" dirty="0"/>
          </a:p>
          <a:p>
            <a:endParaRPr lang="es-ES" dirty="0"/>
          </a:p>
          <a:p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C78E757-BFAD-AF60-0723-5D3FB1BCE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7865" y="244813"/>
            <a:ext cx="2699335" cy="169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226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7556F5F-554E-7515-9153-2D291FA5E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82" y="544930"/>
            <a:ext cx="5705265" cy="272364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DCD6F97-94B9-3D81-0DC7-E36541549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498" y="3429000"/>
            <a:ext cx="6871420" cy="323799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9E5AB9A-58AB-FC2B-EB56-BD7C20BE4996}"/>
              </a:ext>
            </a:extLst>
          </p:cNvPr>
          <p:cNvSpPr txBox="1"/>
          <p:nvPr/>
        </p:nvSpPr>
        <p:spPr>
          <a:xfrm>
            <a:off x="7090611" y="1026695"/>
            <a:ext cx="4106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Creación de la interfaz </a:t>
            </a: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EBD35AB-DBEA-67FA-6310-5FD35FCAFCA8}"/>
              </a:ext>
            </a:extLst>
          </p:cNvPr>
          <p:cNvSpPr txBox="1"/>
          <p:nvPr/>
        </p:nvSpPr>
        <p:spPr>
          <a:xfrm>
            <a:off x="986590" y="4499811"/>
            <a:ext cx="4106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Implementación  de la interfaz 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46407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C470951-4367-2508-1513-311DDF5693D0}"/>
              </a:ext>
            </a:extLst>
          </p:cNvPr>
          <p:cNvSpPr txBox="1"/>
          <p:nvPr/>
        </p:nvSpPr>
        <p:spPr>
          <a:xfrm>
            <a:off x="1299410" y="657726"/>
            <a:ext cx="1021882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Paso a paso para crear el proyecto</a:t>
            </a:r>
          </a:p>
          <a:p>
            <a:endParaRPr lang="es-ES" sz="2400" dirty="0"/>
          </a:p>
          <a:p>
            <a:r>
              <a:rPr lang="es-ES" sz="2400" dirty="0"/>
              <a:t>10. Vamos a realizar la inyección de dependencias teniendo en cuenta el principio SOLID de inversión de dependencias que dice que se declara una instancia de la abstracción(interfaz) y no de la implementación; Luego esta se inyecta en el constructor de la clase que recibe la dependencia y se inicializa. Esto se hace para el </a:t>
            </a:r>
            <a:r>
              <a:rPr lang="es-ES" sz="2400" dirty="0" err="1"/>
              <a:t>service</a:t>
            </a:r>
            <a:r>
              <a:rPr lang="es-ES" sz="2400" dirty="0"/>
              <a:t> en le </a:t>
            </a:r>
            <a:r>
              <a:rPr lang="es-ES" sz="2400" dirty="0" err="1"/>
              <a:t>view</a:t>
            </a:r>
            <a:r>
              <a:rPr lang="es-ES" sz="2400" dirty="0"/>
              <a:t> y para el </a:t>
            </a:r>
            <a:r>
              <a:rPr lang="es-ES" sz="2400" dirty="0" err="1"/>
              <a:t>repository</a:t>
            </a:r>
            <a:r>
              <a:rPr lang="es-ES" sz="2400" dirty="0"/>
              <a:t> en el </a:t>
            </a:r>
            <a:r>
              <a:rPr lang="es-ES" sz="2400" dirty="0" err="1"/>
              <a:t>service</a:t>
            </a:r>
            <a:r>
              <a:rPr lang="es-ES" sz="2400" dirty="0"/>
              <a:t>.</a:t>
            </a:r>
          </a:p>
          <a:p>
            <a:endParaRPr lang="es-ES" sz="2400" dirty="0"/>
          </a:p>
          <a:p>
            <a:endParaRPr lang="es-ES" sz="2400" dirty="0"/>
          </a:p>
          <a:p>
            <a:endParaRPr lang="es-ES" sz="24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EE37B31-8A41-F9A1-E8AF-17D7FAEAD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105" y="3832155"/>
            <a:ext cx="9689432" cy="2849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345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AB75D5E-0A50-E754-3E8D-9EB4073B95B5}"/>
              </a:ext>
            </a:extLst>
          </p:cNvPr>
          <p:cNvSpPr txBox="1"/>
          <p:nvPr/>
        </p:nvSpPr>
        <p:spPr>
          <a:xfrm>
            <a:off x="1299410" y="657726"/>
            <a:ext cx="1021882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Paso a paso para crear el proyecto</a:t>
            </a:r>
          </a:p>
          <a:p>
            <a:endParaRPr lang="es-ES" sz="2400" dirty="0"/>
          </a:p>
          <a:p>
            <a:r>
              <a:rPr lang="es-ES" sz="2400" dirty="0"/>
              <a:t>11. Ahora vamos a crear los métodos en la clase utilitaria del </a:t>
            </a:r>
            <a:r>
              <a:rPr lang="es-ES" sz="2400" dirty="0" err="1"/>
              <a:t>view</a:t>
            </a:r>
            <a:r>
              <a:rPr lang="es-ES" sz="2400" dirty="0"/>
              <a:t>, estos generalmente para una aplicación en CLI son </a:t>
            </a:r>
            <a:r>
              <a:rPr lang="es-ES" sz="2400" dirty="0" err="1"/>
              <a:t>void</a:t>
            </a:r>
            <a:endParaRPr lang="es-ES" sz="2400" dirty="0"/>
          </a:p>
          <a:p>
            <a:endParaRPr lang="es-ES" sz="2400" dirty="0"/>
          </a:p>
          <a:p>
            <a:endParaRPr lang="es-ES" sz="2400" dirty="0"/>
          </a:p>
          <a:p>
            <a:endParaRPr lang="es-ES" sz="24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F532FD9-47A7-33B7-E2B6-DD087D2B0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827" y="2445084"/>
            <a:ext cx="6418346" cy="420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476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DEF61-9647-409B-9380-602FF44D2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DDDF8C1-8EC8-DADD-2013-81A85ACB988A}"/>
              </a:ext>
            </a:extLst>
          </p:cNvPr>
          <p:cNvSpPr txBox="1"/>
          <p:nvPr/>
        </p:nvSpPr>
        <p:spPr>
          <a:xfrm>
            <a:off x="1299410" y="657726"/>
            <a:ext cx="1021882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Paso a paso para crear el proyecto</a:t>
            </a:r>
          </a:p>
          <a:p>
            <a:endParaRPr lang="es-ES" sz="2400" dirty="0"/>
          </a:p>
          <a:p>
            <a:r>
              <a:rPr lang="es-ES" sz="2400" dirty="0"/>
              <a:t>12. Crear el validador de Datos para tener una única instancia de Scanner y evitar que se puedan presentar errores de </a:t>
            </a:r>
            <a:r>
              <a:rPr lang="es-ES" sz="2400" dirty="0" err="1"/>
              <a:t>MissMatchException</a:t>
            </a:r>
            <a:r>
              <a:rPr lang="es-ES" sz="2400" dirty="0"/>
              <a:t> usando try catch y un </a:t>
            </a:r>
            <a:r>
              <a:rPr lang="es-ES" sz="2400" dirty="0" err="1"/>
              <a:t>loop</a:t>
            </a:r>
            <a:r>
              <a:rPr lang="es-ES" sz="2400" dirty="0"/>
              <a:t> para crear las validaciones , para esto se crea una carpeta </a:t>
            </a:r>
            <a:r>
              <a:rPr lang="es-ES" sz="2400" dirty="0" err="1"/>
              <a:t>validations</a:t>
            </a:r>
            <a:r>
              <a:rPr lang="es-ES" sz="2400" dirty="0"/>
              <a:t> dentro de la carpeta </a:t>
            </a:r>
            <a:r>
              <a:rPr lang="es-ES" sz="2400" dirty="0" err="1"/>
              <a:t>service</a:t>
            </a:r>
            <a:r>
              <a:rPr lang="es-ES" sz="2400" dirty="0"/>
              <a:t> y se crea una clase llamada </a:t>
            </a:r>
            <a:r>
              <a:rPr lang="es-ES" sz="2400" dirty="0" err="1"/>
              <a:t>FormTypeValidator</a:t>
            </a:r>
            <a:endParaRPr lang="es-ES" sz="2400" dirty="0"/>
          </a:p>
          <a:p>
            <a:endParaRPr lang="es-ES" sz="2400" dirty="0"/>
          </a:p>
          <a:p>
            <a:endParaRPr lang="es-ES" sz="2400" dirty="0"/>
          </a:p>
          <a:p>
            <a:endParaRPr lang="es-ES" sz="24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17F9AE3-D492-631D-8A90-5017AF0D1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072" y="3192436"/>
            <a:ext cx="6866021" cy="325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440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05DFE98-A7F9-3E31-5852-2B788304DAF4}"/>
              </a:ext>
            </a:extLst>
          </p:cNvPr>
          <p:cNvSpPr txBox="1"/>
          <p:nvPr/>
        </p:nvSpPr>
        <p:spPr>
          <a:xfrm>
            <a:off x="1299410" y="657726"/>
            <a:ext cx="1021882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Paso a paso para crear el proyecto</a:t>
            </a:r>
          </a:p>
          <a:p>
            <a:endParaRPr lang="es-ES" sz="2400" dirty="0"/>
          </a:p>
          <a:p>
            <a:r>
              <a:rPr lang="es-ES" sz="2400" dirty="0"/>
              <a:t>13. Ahora trabajaremos en la lógica de manejo de los datos. En la clase </a:t>
            </a:r>
            <a:r>
              <a:rPr lang="es-ES" sz="2400" dirty="0" err="1"/>
              <a:t>view</a:t>
            </a:r>
            <a:r>
              <a:rPr lang="es-ES" sz="2400" dirty="0"/>
              <a:t> , pedimos los datos de entrada que corresponden  obtener los valores de los atributos que crean el objeto. A la variable le asignamos el llamado de la clase con los métodos estáticos de la validación , </a:t>
            </a:r>
            <a:r>
              <a:rPr lang="es-ES" sz="2400" dirty="0" err="1"/>
              <a:t>captutaros</a:t>
            </a:r>
            <a:r>
              <a:rPr lang="es-ES" sz="2400" dirty="0"/>
              <a:t> los datos.</a:t>
            </a:r>
          </a:p>
          <a:p>
            <a:r>
              <a:rPr lang="es-ES" sz="2400" dirty="0"/>
              <a:t>14. Ahora usando la dependencia inyectada en la clase , llamamos el método créate y pasamos los parámetros capturados a través de la entrada de la función.</a:t>
            </a:r>
          </a:p>
          <a:p>
            <a:endParaRPr lang="es-ES" sz="2400" dirty="0"/>
          </a:p>
          <a:p>
            <a:endParaRPr lang="es-ES" sz="24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A089E31-79E7-42BF-F4C8-290DE29BF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493" y="3802501"/>
            <a:ext cx="6677025" cy="3055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785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31930-FF1E-0EF6-11B1-7333EBEF0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1077219-4569-4513-B73F-28CB04C5ED96}"/>
              </a:ext>
            </a:extLst>
          </p:cNvPr>
          <p:cNvSpPr txBox="1"/>
          <p:nvPr/>
        </p:nvSpPr>
        <p:spPr>
          <a:xfrm>
            <a:off x="1299410" y="657726"/>
            <a:ext cx="1021882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Paso a paso para crear el proyecto</a:t>
            </a:r>
          </a:p>
          <a:p>
            <a:endParaRPr lang="es-ES" sz="2400" dirty="0"/>
          </a:p>
          <a:p>
            <a:r>
              <a:rPr lang="es-ES" sz="2400" dirty="0"/>
              <a:t>15. Ahora paso al método créate  del </a:t>
            </a:r>
            <a:r>
              <a:rPr lang="es-ES" sz="2400" dirty="0" err="1"/>
              <a:t>service</a:t>
            </a:r>
            <a:r>
              <a:rPr lang="es-ES" sz="2400" dirty="0"/>
              <a:t> , donde voy a inicializar el objeto de la clase pojo, en el constructor de esta , recibo los parámetros enviados por la clase </a:t>
            </a:r>
            <a:r>
              <a:rPr lang="es-ES" sz="2400" dirty="0" err="1"/>
              <a:t>PropertyView</a:t>
            </a:r>
            <a:r>
              <a:rPr lang="es-ES" sz="2400" dirty="0"/>
              <a:t> , se </a:t>
            </a:r>
            <a:r>
              <a:rPr lang="es-ES" sz="2400" dirty="0" err="1"/>
              <a:t>creal</a:t>
            </a:r>
            <a:r>
              <a:rPr lang="es-ES" sz="2400" dirty="0"/>
              <a:t> el objeto y luego esta retorna el llamado al objeto inyectado del </a:t>
            </a:r>
            <a:r>
              <a:rPr lang="es-ES" sz="2400" dirty="0" err="1"/>
              <a:t>repository</a:t>
            </a:r>
            <a:endParaRPr lang="es-ES" sz="2400" dirty="0"/>
          </a:p>
          <a:p>
            <a:endParaRPr lang="es-ES" sz="24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017EAB8-36A3-1C1E-B638-713F72210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37" y="3885198"/>
            <a:ext cx="11439525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728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0D69F-F87C-D6C9-ADFE-73EF3C468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72D4A36-8D74-339D-303C-35669B5E169D}"/>
              </a:ext>
            </a:extLst>
          </p:cNvPr>
          <p:cNvSpPr txBox="1"/>
          <p:nvPr/>
        </p:nvSpPr>
        <p:spPr>
          <a:xfrm>
            <a:off x="1299410" y="657726"/>
            <a:ext cx="1021882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Paso a paso para crear el proyecto</a:t>
            </a:r>
          </a:p>
          <a:p>
            <a:endParaRPr lang="es-ES" sz="2400" dirty="0"/>
          </a:p>
          <a:p>
            <a:r>
              <a:rPr lang="es-ES" sz="2400" dirty="0"/>
              <a:t>15. Ahora paso al método créate  del </a:t>
            </a:r>
            <a:r>
              <a:rPr lang="es-ES" sz="2400" dirty="0" err="1"/>
              <a:t>service</a:t>
            </a:r>
            <a:r>
              <a:rPr lang="es-ES" sz="2400" dirty="0"/>
              <a:t> , donde voy a inicializar el objeto de la clase pojo, en el constructor de esta , recibo los parámetros enviados por la clase </a:t>
            </a:r>
            <a:r>
              <a:rPr lang="es-ES" sz="2400" dirty="0" err="1"/>
              <a:t>PropertyView</a:t>
            </a:r>
            <a:r>
              <a:rPr lang="es-ES" sz="2400" dirty="0"/>
              <a:t> , se </a:t>
            </a:r>
            <a:r>
              <a:rPr lang="es-ES" sz="2400" dirty="0" err="1"/>
              <a:t>creal</a:t>
            </a:r>
            <a:r>
              <a:rPr lang="es-ES" sz="2400" dirty="0"/>
              <a:t> el objeto y luego esta retorna el llamado al objeto inyectado del </a:t>
            </a:r>
            <a:r>
              <a:rPr lang="es-ES" sz="2400" dirty="0" err="1"/>
              <a:t>repository</a:t>
            </a:r>
            <a:endParaRPr lang="es-ES" sz="2400" dirty="0"/>
          </a:p>
          <a:p>
            <a:endParaRPr lang="es-ES" sz="24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CE8AC83-AC1F-3BEB-AC6E-9BCA43D17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37" y="3885198"/>
            <a:ext cx="11439525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576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2AB8E-41A5-F24B-7F40-71D81F3F2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06B4992-384B-4FF2-538F-64A3F82BA41B}"/>
              </a:ext>
            </a:extLst>
          </p:cNvPr>
          <p:cNvSpPr txBox="1"/>
          <p:nvPr/>
        </p:nvSpPr>
        <p:spPr>
          <a:xfrm>
            <a:off x="1299410" y="657726"/>
            <a:ext cx="1021882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Paso a paso para crear el proyecto</a:t>
            </a:r>
          </a:p>
          <a:p>
            <a:endParaRPr lang="es-ES" sz="2400" dirty="0"/>
          </a:p>
          <a:p>
            <a:r>
              <a:rPr lang="es-ES" sz="2400" dirty="0"/>
              <a:t>16. Ahora en la implementación del </a:t>
            </a:r>
            <a:r>
              <a:rPr lang="es-ES" sz="2400" dirty="0" err="1"/>
              <a:t>repository</a:t>
            </a:r>
            <a:r>
              <a:rPr lang="es-ES" sz="2400" dirty="0"/>
              <a:t> debemos recibir para esta parte del ejercicio, el objeto enviado por el </a:t>
            </a:r>
            <a:r>
              <a:rPr lang="es-ES" sz="2400" dirty="0" err="1"/>
              <a:t>service</a:t>
            </a:r>
            <a:r>
              <a:rPr lang="es-ES" sz="2400" dirty="0"/>
              <a:t> . Previamente creamos un </a:t>
            </a:r>
            <a:r>
              <a:rPr lang="es-ES" sz="2400" dirty="0" err="1"/>
              <a:t>ArrayList</a:t>
            </a:r>
            <a:r>
              <a:rPr lang="es-ES" sz="2400" dirty="0"/>
              <a:t> y agregamos el objeto recibo usando el método </a:t>
            </a:r>
            <a:r>
              <a:rPr lang="es-ES" sz="2400" dirty="0" err="1"/>
              <a:t>add</a:t>
            </a:r>
            <a:r>
              <a:rPr lang="es-ES" sz="2400" dirty="0"/>
              <a:t>().</a:t>
            </a:r>
          </a:p>
          <a:p>
            <a:endParaRPr lang="es-ES" sz="24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6B550C0-5C64-CAD8-64F9-846A32185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410" y="2966050"/>
            <a:ext cx="8963527" cy="343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376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58980-D957-4921-D010-4BC87CB82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D24223B-D256-D802-414E-5C55AA97FDA2}"/>
              </a:ext>
            </a:extLst>
          </p:cNvPr>
          <p:cNvSpPr txBox="1"/>
          <p:nvPr/>
        </p:nvSpPr>
        <p:spPr>
          <a:xfrm>
            <a:off x="1299410" y="657726"/>
            <a:ext cx="1021882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Paso a paso para crear el proyecto</a:t>
            </a:r>
          </a:p>
          <a:p>
            <a:endParaRPr lang="es-ES" sz="2400" dirty="0"/>
          </a:p>
          <a:p>
            <a:r>
              <a:rPr lang="es-ES" sz="2400" dirty="0"/>
              <a:t>17. Tenga en cuenta que su ingesta de datos puede requerir </a:t>
            </a:r>
            <a:r>
              <a:rPr lang="es-ES" sz="2400" dirty="0" err="1"/>
              <a:t>enums</a:t>
            </a:r>
            <a:r>
              <a:rPr lang="es-ES" sz="2400" dirty="0"/>
              <a:t> , para esto en el dominio cree una carpeta llamada </a:t>
            </a:r>
            <a:r>
              <a:rPr lang="es-ES" sz="2400" dirty="0" err="1"/>
              <a:t>enums</a:t>
            </a:r>
            <a:r>
              <a:rPr lang="es-ES" sz="2400" dirty="0"/>
              <a:t> y dentro cree el </a:t>
            </a:r>
            <a:r>
              <a:rPr lang="es-ES" sz="2400" dirty="0" err="1"/>
              <a:t>enum</a:t>
            </a:r>
            <a:r>
              <a:rPr lang="es-ES" sz="2400" dirty="0"/>
              <a:t> con las constantes en mayúsculas y usando el formato con constructor visto en el curso: </a:t>
            </a:r>
          </a:p>
          <a:p>
            <a:endParaRPr lang="es-ES" sz="24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7FF726A-D21A-146D-F661-39CB0449B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432" y="2667089"/>
            <a:ext cx="5969291" cy="397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199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2F633-78AF-5B5A-753F-9B16A5B8B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B8F963E-DFAD-6AB9-8E77-52D453B8BC1C}"/>
              </a:ext>
            </a:extLst>
          </p:cNvPr>
          <p:cNvSpPr txBox="1"/>
          <p:nvPr/>
        </p:nvSpPr>
        <p:spPr>
          <a:xfrm>
            <a:off x="368968" y="577516"/>
            <a:ext cx="115182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Paso a paso para crear el proyecto</a:t>
            </a:r>
          </a:p>
          <a:p>
            <a:endParaRPr lang="es-ES" sz="2400" dirty="0"/>
          </a:p>
          <a:p>
            <a:r>
              <a:rPr lang="es-ES" sz="2400" dirty="0"/>
              <a:t>18. Para la implementación de los </a:t>
            </a:r>
            <a:r>
              <a:rPr lang="es-ES" sz="2400" dirty="0" err="1"/>
              <a:t>enums</a:t>
            </a:r>
            <a:r>
              <a:rPr lang="es-ES" sz="2400" dirty="0"/>
              <a:t> usaremos clases </a:t>
            </a:r>
            <a:r>
              <a:rPr lang="es-ES" sz="2400" dirty="0" err="1"/>
              <a:t>helpers</a:t>
            </a:r>
            <a:r>
              <a:rPr lang="es-ES" sz="2400" dirty="0"/>
              <a:t>, para esto creamos en el </a:t>
            </a:r>
            <a:r>
              <a:rPr lang="es-ES" sz="2400" dirty="0" err="1"/>
              <a:t>service</a:t>
            </a:r>
            <a:r>
              <a:rPr lang="es-ES" sz="2400" dirty="0"/>
              <a:t> una carpeta llamada </a:t>
            </a:r>
            <a:r>
              <a:rPr lang="es-ES" sz="2400" dirty="0" err="1"/>
              <a:t>helpers</a:t>
            </a:r>
            <a:r>
              <a:rPr lang="es-ES" sz="2400" dirty="0"/>
              <a:t>, en la cual crearemos la Clase </a:t>
            </a:r>
            <a:r>
              <a:rPr lang="es-ES" sz="2400" dirty="0" err="1"/>
              <a:t>SetPropertyHelper</a:t>
            </a:r>
            <a:r>
              <a:rPr lang="es-ES" sz="2400" dirty="0"/>
              <a:t> , que contiene los métodos globales que usaremos para </a:t>
            </a:r>
            <a:r>
              <a:rPr lang="es-ES" sz="2400" dirty="0" err="1"/>
              <a:t>setear</a:t>
            </a:r>
            <a:r>
              <a:rPr lang="es-ES" sz="2400" dirty="0"/>
              <a:t> los </a:t>
            </a:r>
            <a:r>
              <a:rPr lang="es-ES" sz="2400" dirty="0" err="1"/>
              <a:t>emuns</a:t>
            </a:r>
            <a:endParaRPr lang="es-ES" sz="24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3FD92D5-5A55-65C9-1897-7AA21ADCF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084" y="2885840"/>
            <a:ext cx="7419724" cy="368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471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68F1A-F063-5B18-67E2-33BF8EF99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637BFB3-06FD-89EC-8D3C-69A15717C0D5}"/>
              </a:ext>
            </a:extLst>
          </p:cNvPr>
          <p:cNvSpPr txBox="1"/>
          <p:nvPr/>
        </p:nvSpPr>
        <p:spPr>
          <a:xfrm>
            <a:off x="368968" y="577516"/>
            <a:ext cx="1151823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Paso a paso para crear el proyecto</a:t>
            </a:r>
          </a:p>
          <a:p>
            <a:endParaRPr lang="es-ES" sz="2400" dirty="0"/>
          </a:p>
          <a:p>
            <a:r>
              <a:rPr lang="es-ES" sz="2400" dirty="0"/>
              <a:t>19.Para esta entrega, antes de implementar una BD , vamos a usar Colecciones y /o Mapas para guardar datos en memoria. De acuerdo a la lógica podrá implementar una o varias colecciones que le </a:t>
            </a:r>
            <a:r>
              <a:rPr lang="es-ES" sz="2400" dirty="0" err="1"/>
              <a:t>permitar</a:t>
            </a:r>
            <a:r>
              <a:rPr lang="es-ES" sz="2400" dirty="0"/>
              <a:t> usar métodos equivalentes al </a:t>
            </a:r>
            <a:r>
              <a:rPr lang="es-ES" sz="2400" dirty="0" err="1"/>
              <a:t>crud</a:t>
            </a:r>
            <a:r>
              <a:rPr lang="es-ES" sz="2400" dirty="0"/>
              <a:t>. Si usa </a:t>
            </a:r>
            <a:r>
              <a:rPr lang="es-ES" sz="2400" dirty="0" err="1"/>
              <a:t>ArrayList</a:t>
            </a:r>
            <a:r>
              <a:rPr lang="es-ES" sz="2400" dirty="0"/>
              <a:t> , use </a:t>
            </a:r>
            <a:r>
              <a:rPr lang="es-ES" sz="2400" dirty="0" err="1"/>
              <a:t>add</a:t>
            </a:r>
            <a:r>
              <a:rPr lang="es-ES" sz="2400" dirty="0"/>
              <a:t>(), </a:t>
            </a:r>
            <a:r>
              <a:rPr lang="es-ES" sz="2400" dirty="0" err="1"/>
              <a:t>get</a:t>
            </a:r>
            <a:r>
              <a:rPr lang="es-ES" sz="2400" dirty="0"/>
              <a:t>() , set(), </a:t>
            </a:r>
            <a:r>
              <a:rPr lang="es-ES" sz="2400" dirty="0" err="1"/>
              <a:t>remove</a:t>
            </a:r>
            <a:r>
              <a:rPr lang="es-ES" sz="2400" dirty="0"/>
              <a:t>(). Implemente el </a:t>
            </a:r>
            <a:r>
              <a:rPr lang="es-ES" sz="2400" dirty="0" err="1"/>
              <a:t>ArrayList</a:t>
            </a:r>
            <a:r>
              <a:rPr lang="es-ES" sz="2400" dirty="0"/>
              <a:t> usando la abstracción LIST  -</a:t>
            </a:r>
            <a:r>
              <a:rPr lang="es-ES" sz="2400" dirty="0">
                <a:sym typeface="Wingdings" panose="05000000000000000000" pitchFamily="2" charset="2"/>
              </a:rPr>
              <a:t> </a:t>
            </a:r>
            <a:r>
              <a:rPr lang="es-ES" sz="2400" i="1" dirty="0">
                <a:sym typeface="Wingdings" panose="05000000000000000000" pitchFamily="2" charset="2"/>
              </a:rPr>
              <a:t>List&lt;</a:t>
            </a:r>
            <a:r>
              <a:rPr lang="es-ES" sz="2400" i="1" dirty="0" err="1">
                <a:sym typeface="Wingdings" panose="05000000000000000000" pitchFamily="2" charset="2"/>
              </a:rPr>
              <a:t>Property</a:t>
            </a:r>
            <a:r>
              <a:rPr lang="es-ES" sz="2400" i="1" dirty="0">
                <a:sym typeface="Wingdings" panose="05000000000000000000" pitchFamily="2" charset="2"/>
              </a:rPr>
              <a:t>&gt;  </a:t>
            </a:r>
            <a:r>
              <a:rPr lang="es-ES" sz="2400" i="1" dirty="0" err="1">
                <a:sym typeface="Wingdings" panose="05000000000000000000" pitchFamily="2" charset="2"/>
              </a:rPr>
              <a:t>properties</a:t>
            </a:r>
            <a:r>
              <a:rPr lang="es-ES" sz="2400" i="1" dirty="0">
                <a:sym typeface="Wingdings" panose="05000000000000000000" pitchFamily="2" charset="2"/>
              </a:rPr>
              <a:t> = new </a:t>
            </a:r>
            <a:r>
              <a:rPr lang="es-ES" sz="2400" i="1" dirty="0" err="1">
                <a:sym typeface="Wingdings" panose="05000000000000000000" pitchFamily="2" charset="2"/>
              </a:rPr>
              <a:t>ArrayList</a:t>
            </a:r>
            <a:r>
              <a:rPr lang="es-ES" sz="2400" i="1" dirty="0">
                <a:sym typeface="Wingdings" panose="05000000000000000000" pitchFamily="2" charset="2"/>
              </a:rPr>
              <a:t>&lt;&gt;()</a:t>
            </a:r>
            <a:r>
              <a:rPr lang="es-ES" sz="2400" dirty="0">
                <a:sym typeface="Wingdings" panose="05000000000000000000" pitchFamily="2" charset="2"/>
              </a:rPr>
              <a:t>;</a:t>
            </a:r>
          </a:p>
          <a:p>
            <a:endParaRPr lang="es-ES" sz="2400" dirty="0">
              <a:sym typeface="Wingdings" panose="05000000000000000000" pitchFamily="2" charset="2"/>
            </a:endParaRPr>
          </a:p>
          <a:p>
            <a:endParaRPr lang="es-ES" sz="2400" dirty="0"/>
          </a:p>
          <a:p>
            <a:r>
              <a:rPr lang="es-ES" sz="2400" dirty="0"/>
              <a:t>20.  Vamos a trabajar los métodos </a:t>
            </a:r>
            <a:r>
              <a:rPr lang="es-ES" sz="2400" dirty="0" err="1"/>
              <a:t>selectAll</a:t>
            </a:r>
            <a:r>
              <a:rPr lang="es-ES" sz="2400" dirty="0"/>
              <a:t>() que requieren consultar el array que creamos previamente y para esto debemos usar </a:t>
            </a:r>
            <a:r>
              <a:rPr lang="es-ES" sz="2400" dirty="0" err="1"/>
              <a:t>for</a:t>
            </a:r>
            <a:r>
              <a:rPr lang="es-ES" sz="2400" dirty="0"/>
              <a:t> o </a:t>
            </a:r>
            <a:r>
              <a:rPr lang="es-ES" sz="2400" dirty="0" err="1"/>
              <a:t>foreach</a:t>
            </a:r>
            <a:r>
              <a:rPr lang="es-ES" sz="2400" dirty="0"/>
              <a:t> en el </a:t>
            </a:r>
            <a:r>
              <a:rPr lang="es-ES" sz="2400" dirty="0" err="1"/>
              <a:t>view</a:t>
            </a:r>
            <a:r>
              <a:rPr lang="es-ES" sz="2400" dirty="0"/>
              <a:t> : Iniciamos en el </a:t>
            </a:r>
            <a:r>
              <a:rPr lang="es-ES" sz="2400" dirty="0" err="1"/>
              <a:t>repository</a:t>
            </a:r>
            <a:r>
              <a:rPr lang="es-ES" sz="2400" dirty="0"/>
              <a:t> , retornando la lista, hacemos pasamanos en el </a:t>
            </a:r>
            <a:r>
              <a:rPr lang="es-ES" sz="2400" dirty="0" err="1"/>
              <a:t>service</a:t>
            </a:r>
            <a:r>
              <a:rPr lang="es-ES" sz="2400" dirty="0"/>
              <a:t> y en el </a:t>
            </a:r>
            <a:r>
              <a:rPr lang="es-ES" sz="2400" dirty="0" err="1"/>
              <a:t>view</a:t>
            </a:r>
            <a:r>
              <a:rPr lang="es-ES" sz="2400" dirty="0"/>
              <a:t> inicializamos una instancia de la lista y le asignamos la lista que retornamos. Usando el </a:t>
            </a:r>
            <a:r>
              <a:rPr lang="es-ES" sz="2400" dirty="0" err="1"/>
              <a:t>for</a:t>
            </a:r>
            <a:r>
              <a:rPr lang="es-ES" sz="2400" dirty="0"/>
              <a:t> o </a:t>
            </a:r>
            <a:r>
              <a:rPr lang="es-ES" sz="2400" dirty="0" err="1"/>
              <a:t>foreach</a:t>
            </a:r>
            <a:r>
              <a:rPr lang="es-ES" sz="2400" dirty="0"/>
              <a:t> , mostramos los datos.</a:t>
            </a:r>
          </a:p>
        </p:txBody>
      </p:sp>
    </p:spTree>
    <p:extLst>
      <p:ext uri="{BB962C8B-B14F-4D97-AF65-F5344CB8AC3E}">
        <p14:creationId xmlns:p14="http://schemas.microsoft.com/office/powerpoint/2010/main" val="1624473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FDC7467-4C95-3BC3-BBCC-3B1ABA7C6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704" y="307273"/>
            <a:ext cx="9764879" cy="211483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D287C3C-5EC4-D835-9914-0C4507855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703" y="2588172"/>
            <a:ext cx="9764880" cy="190403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85C47D3-C179-511C-12C4-57DEE5240E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0416" y="4616910"/>
            <a:ext cx="5887453" cy="224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9280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8CB36-2D7B-2A4C-2A97-D6B67BEF3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58D1E94-F17A-2A52-E9D6-7DD379B41603}"/>
              </a:ext>
            </a:extLst>
          </p:cNvPr>
          <p:cNvSpPr txBox="1"/>
          <p:nvPr/>
        </p:nvSpPr>
        <p:spPr>
          <a:xfrm>
            <a:off x="368968" y="577516"/>
            <a:ext cx="1151823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Paso a paso para crear el proyecto</a:t>
            </a:r>
          </a:p>
          <a:p>
            <a:endParaRPr lang="es-ES" sz="2400" dirty="0"/>
          </a:p>
          <a:p>
            <a:r>
              <a:rPr lang="es-ES" sz="2400" dirty="0"/>
              <a:t>20. Implementar la lógica de los métodos adicionales.</a:t>
            </a:r>
          </a:p>
          <a:p>
            <a:endParaRPr lang="es-ES" sz="2400" dirty="0"/>
          </a:p>
          <a:p>
            <a:r>
              <a:rPr lang="es-ES" sz="2400" dirty="0"/>
              <a:t>21. Crear la interfaz UI en CLI. Para esto creamos una carpeta llamada </a:t>
            </a:r>
            <a:r>
              <a:rPr lang="es-ES" sz="2400" dirty="0" err="1"/>
              <a:t>ui</a:t>
            </a:r>
            <a:r>
              <a:rPr lang="es-ES" sz="2400" dirty="0"/>
              <a:t> y dentro creamos la clase </a:t>
            </a:r>
            <a:r>
              <a:rPr lang="es-ES" sz="2400" dirty="0" err="1"/>
              <a:t>UserInterface</a:t>
            </a:r>
            <a:r>
              <a:rPr lang="es-ES" sz="2400" dirty="0"/>
              <a:t>. En la misma vamos a implementar métodos que funcionen como módulos de los diferentes menús que requerimos: </a:t>
            </a:r>
          </a:p>
          <a:p>
            <a:pPr marL="342900" indent="-342900">
              <a:buFontTx/>
              <a:buChar char="-"/>
            </a:pPr>
            <a:r>
              <a:rPr lang="es-ES" sz="2400" dirty="0" err="1"/>
              <a:t>menuApp</a:t>
            </a:r>
            <a:r>
              <a:rPr lang="es-ES" sz="2400" dirty="0"/>
              <a:t>()</a:t>
            </a:r>
          </a:p>
          <a:p>
            <a:pPr marL="342900" indent="-342900">
              <a:buFontTx/>
              <a:buChar char="-"/>
            </a:pPr>
            <a:r>
              <a:rPr lang="es-ES" sz="2400" dirty="0" err="1"/>
              <a:t>menuInicio</a:t>
            </a:r>
            <a:r>
              <a:rPr lang="es-ES" sz="2400" dirty="0"/>
              <a:t>()</a:t>
            </a:r>
          </a:p>
          <a:p>
            <a:pPr marL="342900" indent="-342900">
              <a:buFontTx/>
              <a:buChar char="-"/>
            </a:pPr>
            <a:r>
              <a:rPr lang="es-ES" sz="2400" dirty="0" err="1"/>
              <a:t>menuPorFuncionalidad</a:t>
            </a:r>
            <a:r>
              <a:rPr lang="es-ES" sz="2400" dirty="0"/>
              <a:t>() ejemplos </a:t>
            </a:r>
            <a:r>
              <a:rPr lang="es-ES" sz="2400" dirty="0" err="1"/>
              <a:t>menuProperties</a:t>
            </a:r>
            <a:r>
              <a:rPr lang="es-ES" sz="2400" dirty="0"/>
              <a:t>() , estos últimos contienen los métodos implementados en la UI.</a:t>
            </a:r>
          </a:p>
          <a:p>
            <a:pPr marL="342900" indent="-342900">
              <a:buFontTx/>
              <a:buChar char="-"/>
            </a:pPr>
            <a:endParaRPr lang="es-ES" sz="2400" dirty="0"/>
          </a:p>
          <a:p>
            <a:r>
              <a:rPr lang="es-ES" sz="2400" dirty="0"/>
              <a:t>Este menú inyecta como dependencia a las clases de la capa VIEW</a:t>
            </a:r>
          </a:p>
        </p:txBody>
      </p:sp>
    </p:spTree>
    <p:extLst>
      <p:ext uri="{BB962C8B-B14F-4D97-AF65-F5344CB8AC3E}">
        <p14:creationId xmlns:p14="http://schemas.microsoft.com/office/powerpoint/2010/main" val="12380102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</TotalTime>
  <Words>1032</Words>
  <Application>Microsoft Office PowerPoint</Application>
  <PresentationFormat>Panorámica</PresentationFormat>
  <Paragraphs>67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Bernardo Alonso Mira Garcia</dc:creator>
  <cp:lastModifiedBy>Bernardo Alonso Mira Garcia</cp:lastModifiedBy>
  <cp:revision>1</cp:revision>
  <dcterms:created xsi:type="dcterms:W3CDTF">2026-10-03T20:19:01Z</dcterms:created>
  <dcterms:modified xsi:type="dcterms:W3CDTF">2026-10-05T05:10:11Z</dcterms:modified>
</cp:coreProperties>
</file>